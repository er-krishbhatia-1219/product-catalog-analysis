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8686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BEDA"/>
                </a:solidFill>
                <a:latin typeface="Aptos"/>
              </a:defRPr>
            </a:pPr>
            <a:r>
              <a:t>PRODUCT INTELLIGENCE / EXECUTIVE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98448"/>
            <a:ext cx="7589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7F9FC"/>
                </a:solidFill>
                <a:latin typeface="Aptos"/>
              </a:defRPr>
            </a:pPr>
            <a:r>
              <a:t>PRODUCT CATALOG</a:t>
            </a:r>
            <a:br/>
            <a: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333756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B5C4"/>
                </a:solidFill>
                <a:latin typeface="Aptos"/>
              </a:defRPr>
            </a:pPr>
            <a:r>
              <a:t>Pricing • Profitability • Product Mix • Brand Economics • Supplier Economics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298448"/>
            <a:ext cx="2468880" cy="1234440"/>
          </a:xfrm>
          <a:prstGeom prst="roundRect">
            <a:avLst/>
          </a:prstGeom>
          <a:solidFill>
            <a:srgbClr val="182637"/>
          </a:solidFill>
          <a:ln>
            <a:solidFill>
              <a:srgbClr val="34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88552" y="1463039"/>
            <a:ext cx="21396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0BEDA"/>
                </a:solidFill>
                <a:latin typeface="Aptos"/>
              </a:defRPr>
            </a:pPr>
            <a:r>
              <a:t>$1,482.95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88552" y="2011680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5C4"/>
                </a:solidFill>
                <a:latin typeface="Aptos"/>
              </a:defRPr>
            </a:pPr>
            <a:r>
              <a:t>Maximum unit price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2788920"/>
            <a:ext cx="2468880" cy="1234440"/>
          </a:xfrm>
          <a:prstGeom prst="roundRect">
            <a:avLst/>
          </a:prstGeom>
          <a:solidFill>
            <a:srgbClr val="182637"/>
          </a:solidFill>
          <a:ln>
            <a:solidFill>
              <a:srgbClr val="34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88552" y="2953512"/>
            <a:ext cx="21396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9DD653"/>
                </a:solidFill>
                <a:latin typeface="Aptos"/>
              </a:defRPr>
            </a:pPr>
            <a:r>
              <a:t>$245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88552" y="3502152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5C4"/>
                </a:solidFill>
                <a:latin typeface="Aptos"/>
              </a:defRPr>
            </a:pPr>
            <a:r>
              <a:t>Average unit price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4279392"/>
            <a:ext cx="2468880" cy="1234440"/>
          </a:xfrm>
          <a:prstGeom prst="roundRect">
            <a:avLst/>
          </a:prstGeom>
          <a:solidFill>
            <a:srgbClr val="182637"/>
          </a:solidFill>
          <a:ln>
            <a:solidFill>
              <a:srgbClr val="34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88552" y="4443983"/>
            <a:ext cx="21396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EE5853"/>
                </a:solidFill>
                <a:latin typeface="Aptos"/>
              </a:defRPr>
            </a:pPr>
            <a:r>
              <a:t>-$0.0202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88552" y="4992624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5C4"/>
                </a:solidFill>
                <a:latin typeface="Aptos"/>
              </a:defRPr>
            </a:pPr>
            <a:r>
              <a:t>Price–rating correlation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190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AB5C4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BEDA"/>
                </a:solidFill>
                <a:latin typeface="Aptos"/>
              </a:defRPr>
            </a:pPr>
            <a:r>
              <a:t>01 / EXECUTIVE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7F9FC"/>
                </a:solidFill>
                <a:latin typeface="Aptos"/>
              </a:defRPr>
            </a:pPr>
            <a:r>
              <a:t>What the catalog is telling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5C4"/>
                </a:solidFill>
                <a:latin typeface="Aptos"/>
              </a:defRPr>
            </a:pPr>
            <a:r>
              <a:t>The strongest signals are concentrated in pricing, product economics, brands and suppliers.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468880" cy="1234440"/>
          </a:xfrm>
          <a:prstGeom prst="roundRect">
            <a:avLst/>
          </a:prstGeom>
          <a:solidFill>
            <a:srgbClr val="182637"/>
          </a:solidFill>
          <a:ln>
            <a:solidFill>
              <a:srgbClr val="34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64792"/>
            <a:ext cx="21396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0BEDA"/>
                </a:solidFill>
                <a:latin typeface="Aptos"/>
              </a:defRPr>
            </a:pPr>
            <a:r>
              <a:t>$245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13432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5C4"/>
                </a:solidFill>
                <a:latin typeface="Aptos"/>
              </a:defRPr>
            </a:pPr>
            <a:r>
              <a:t>Mean unit price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468880" cy="1234440"/>
          </a:xfrm>
          <a:prstGeom prst="roundRect">
            <a:avLst/>
          </a:prstGeom>
          <a:solidFill>
            <a:srgbClr val="182637"/>
          </a:solidFill>
          <a:ln>
            <a:solidFill>
              <a:srgbClr val="34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764792"/>
            <a:ext cx="21396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9DD653"/>
                </a:solidFill>
                <a:latin typeface="Aptos"/>
              </a:defRPr>
            </a:pPr>
            <a:r>
              <a:t>$165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313432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5C4"/>
                </a:solidFill>
                <a:latin typeface="Aptos"/>
              </a:defRPr>
            </a:pPr>
            <a:r>
              <a:t>Median unit price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00200"/>
            <a:ext cx="2468880" cy="1234440"/>
          </a:xfrm>
          <a:prstGeom prst="roundRect">
            <a:avLst/>
          </a:prstGeom>
          <a:solidFill>
            <a:srgbClr val="182637"/>
          </a:solidFill>
          <a:ln>
            <a:solidFill>
              <a:srgbClr val="34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764792"/>
            <a:ext cx="21396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2B143"/>
                </a:solidFill>
                <a:latin typeface="Aptos"/>
              </a:defRPr>
            </a:pPr>
            <a:r>
              <a:t>$1,482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313432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5C4"/>
                </a:solidFill>
                <a:latin typeface="Aptos"/>
              </a:defRPr>
            </a:pPr>
            <a:r>
              <a:t>Maximum unit price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600200"/>
            <a:ext cx="2468880" cy="1234440"/>
          </a:xfrm>
          <a:prstGeom prst="roundRect">
            <a:avLst/>
          </a:prstGeom>
          <a:solidFill>
            <a:srgbClr val="182637"/>
          </a:solidFill>
          <a:ln>
            <a:solidFill>
              <a:srgbClr val="34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8552" y="1764792"/>
            <a:ext cx="21396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EE5853"/>
                </a:solidFill>
                <a:latin typeface="Aptos"/>
              </a:defRPr>
            </a:pPr>
            <a:r>
              <a:t>$251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2313432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5C4"/>
                </a:solidFill>
                <a:latin typeface="Aptos"/>
              </a:defRPr>
            </a:pPr>
            <a:r>
              <a:t>Price standard deviation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246120"/>
            <a:ext cx="10515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7F9FC"/>
                </a:solidFill>
                <a:latin typeface="Aptos"/>
              </a:defRPr>
            </a:pPr>
            <a:r>
              <a:t>• The mean price of $245 is substantially above the median of $165, indicating a right-skewed price distribution.</a:t>
            </a:r>
          </a:p>
          <a:p>
            <a:pPr>
              <a:spcAft>
                <a:spcPts val="900"/>
              </a:spcAft>
              <a:defRPr sz="1500">
                <a:solidFill>
                  <a:srgbClr val="F7F9FC"/>
                </a:solidFill>
                <a:latin typeface="Aptos"/>
              </a:defRPr>
            </a:pPr>
            <a:r>
              <a:t>• Electronics has the highest average unit price at $798.84 — more than 5× Health &amp; Wellness at $158.63.</a:t>
            </a:r>
          </a:p>
          <a:p>
            <a:pPr>
              <a:spcAft>
                <a:spcPts val="900"/>
              </a:spcAft>
              <a:defRPr sz="1500">
                <a:solidFill>
                  <a:srgbClr val="F7F9FC"/>
                </a:solidFill>
                <a:latin typeface="Aptos"/>
              </a:defRPr>
            </a:pPr>
            <a:r>
              <a:t>• Samsung generates the highest total brand profit in the notebook at $4,317.20.</a:t>
            </a:r>
          </a:p>
          <a:p>
            <a:pPr>
              <a:spcAft>
                <a:spcPts val="900"/>
              </a:spcAft>
              <a:defRPr sz="1500">
                <a:solidFill>
                  <a:srgbClr val="F7F9FC"/>
                </a:solidFill>
                <a:latin typeface="Aptos"/>
              </a:defRPr>
            </a:pPr>
            <a:r>
              <a:t>• Amazon Supply has the highest average profit per product at $128.87, narrowly ahead of Domestic Producers at $128.31.</a:t>
            </a:r>
          </a:p>
          <a:p>
            <a:pPr>
              <a:spcAft>
                <a:spcPts val="900"/>
              </a:spcAft>
              <a:defRPr sz="1500">
                <a:solidFill>
                  <a:srgbClr val="F7F9FC"/>
                </a:solidFill>
                <a:latin typeface="Aptos"/>
              </a:defRPr>
            </a:pPr>
            <a:r>
              <a:t>• Price and rating are essentially uncorrelated: r = -0.0202.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190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AB5C4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BEDA"/>
                </a:solidFill>
                <a:latin typeface="Aptos"/>
              </a:defRPr>
            </a:pPr>
            <a:r>
              <a:t>02 /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7F9FC"/>
                </a:solidFill>
                <a:latin typeface="Aptos"/>
              </a:defRPr>
            </a:pPr>
            <a:r>
              <a:t>The catalog has a wide price spread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5C4"/>
                </a:solidFill>
                <a:latin typeface="Aptos"/>
              </a:defRPr>
            </a:pPr>
            <a:r>
              <a:t>A $1,476.95 gap separates the cheapest and most expensive products.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468880" cy="1234440"/>
          </a:xfrm>
          <a:prstGeom prst="roundRect">
            <a:avLst/>
          </a:prstGeom>
          <a:solidFill>
            <a:srgbClr val="182637"/>
          </a:solidFill>
          <a:ln>
            <a:solidFill>
              <a:srgbClr val="34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64792"/>
            <a:ext cx="21396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0BEDA"/>
                </a:solidFill>
                <a:latin typeface="Aptos"/>
              </a:defRPr>
            </a:pPr>
            <a:r>
              <a:t>$6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13432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5C4"/>
                </a:solidFill>
                <a:latin typeface="Aptos"/>
              </a:defRPr>
            </a:pPr>
            <a:r>
              <a:t>Minimum price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468880" cy="1234440"/>
          </a:xfrm>
          <a:prstGeom prst="roundRect">
            <a:avLst/>
          </a:prstGeom>
          <a:solidFill>
            <a:srgbClr val="182637"/>
          </a:solidFill>
          <a:ln>
            <a:solidFill>
              <a:srgbClr val="34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764792"/>
            <a:ext cx="21396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9DD653"/>
                </a:solidFill>
                <a:latin typeface="Aptos"/>
              </a:defRPr>
            </a:pPr>
            <a:r>
              <a:t>$165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313432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5C4"/>
                </a:solidFill>
                <a:latin typeface="Aptos"/>
              </a:defRPr>
            </a:pPr>
            <a:r>
              <a:t>Median price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00200"/>
            <a:ext cx="2468880" cy="1234440"/>
          </a:xfrm>
          <a:prstGeom prst="roundRect">
            <a:avLst/>
          </a:prstGeom>
          <a:solidFill>
            <a:srgbClr val="182637"/>
          </a:solidFill>
          <a:ln>
            <a:solidFill>
              <a:srgbClr val="34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764792"/>
            <a:ext cx="21396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2B143"/>
                </a:solidFill>
                <a:latin typeface="Aptos"/>
              </a:defRPr>
            </a:pPr>
            <a:r>
              <a:t>$245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313432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5C4"/>
                </a:solidFill>
                <a:latin typeface="Aptos"/>
              </a:defRPr>
            </a:pPr>
            <a:r>
              <a:t>Mean price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600200"/>
            <a:ext cx="2468880" cy="1234440"/>
          </a:xfrm>
          <a:prstGeom prst="roundRect">
            <a:avLst/>
          </a:prstGeom>
          <a:solidFill>
            <a:srgbClr val="182637"/>
          </a:solidFill>
          <a:ln>
            <a:solidFill>
              <a:srgbClr val="34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8552" y="1764792"/>
            <a:ext cx="21396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E5853"/>
                </a:solidFill>
                <a:latin typeface="Aptos"/>
              </a:defRPr>
            </a:pPr>
            <a:r>
              <a:t>$1,482.95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2313432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5C4"/>
                </a:solidFill>
                <a:latin typeface="Aptos"/>
              </a:defRPr>
            </a:pPr>
            <a:r>
              <a:t>Maximum price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101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0BEDA"/>
                </a:solidFill>
                <a:latin typeface="Aptos"/>
              </a:defRPr>
            </a:pPr>
            <a:r>
              <a:t>400 products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675887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F9FC"/>
                </a:solidFill>
                <a:latin typeface="Aptos"/>
              </a:defRPr>
            </a:pPr>
            <a:r>
              <a:t>are priced above the $245 mean.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33756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7F9FC"/>
                </a:solidFill>
                <a:latin typeface="Aptos"/>
              </a:defRPr>
            </a:pPr>
            <a:r>
              <a:t>The top-priced product is an Asus tablet at $1,482.95.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88620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B5C4"/>
                </a:solidFill>
                <a:latin typeface="Aptos"/>
              </a:defRPr>
            </a:pPr>
            <a:r>
              <a:t>The next highest prices are $1,433.55 (LG), $1,380.75 (HP), $1,370.54 (Xiaomi) and $1,359.66 (OnePlus).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892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BEDA"/>
                </a:solidFill>
                <a:latin typeface="Aptos"/>
              </a:defRPr>
            </a:pPr>
            <a:r>
              <a:t>Management implication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230368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DD653"/>
                </a:solidFill>
                <a:latin typeface="Aptos"/>
              </a:defRPr>
            </a:pPr>
            <a:r>
              <a:t>The catalog should not use a single pricing rule: the observed range spans more than 240× from minimum to maximum.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190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AB5C4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BEDA"/>
                </a:solidFill>
                <a:latin typeface="Aptos"/>
              </a:defRPr>
            </a:pPr>
            <a:r>
              <a:t>03 / CATEGORY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7F9FC"/>
                </a:solidFill>
                <a:latin typeface="Aptos"/>
              </a:defRPr>
            </a:pPr>
            <a:r>
              <a:t>Electronics dominates the price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5C4"/>
                </a:solidFill>
                <a:latin typeface="Aptos"/>
              </a:defRPr>
            </a:pPr>
            <a:r>
              <a:t>Average unit price differs sharply across categories.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0BED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Electronics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1554480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30BEDA"/>
                </a:solidFill>
                <a:latin typeface="Aptos"/>
              </a:defRPr>
            </a:pPr>
            <a:r>
              <a:t>$798.84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93392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Jewelry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1993392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$566.81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5059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432304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Home Appliances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432304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$479.14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88950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871216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Automotive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871216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$304.74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2841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310128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Sports &amp; Outdoors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3310128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$261.44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673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749040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Home &amp; Kitchen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3749040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$236.69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2062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187952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Baby &amp; Kids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4187952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$191.86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64515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626864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Office Supplies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4626864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$164.24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08406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065776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Fashion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5065776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$162.29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52297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5504688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Health &amp; Wellness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5504688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$158.63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05332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DD653"/>
                </a:solidFill>
                <a:latin typeface="Aptos"/>
              </a:defRPr>
            </a:pPr>
            <a:r>
              <a:t>Electronics average price is 68% higher than Jewelry and ~5.0× Health &amp; Wellness.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8520" y="64190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AB5C4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BEDA"/>
                </a:solidFill>
                <a:latin typeface="Aptos"/>
              </a:defRPr>
            </a:pPr>
            <a:r>
              <a:t>04 / BRAND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7F9FC"/>
                </a:solidFill>
                <a:latin typeface="Aptos"/>
              </a:defRPr>
            </a:pPr>
            <a:r>
              <a:t>Samsung leads total brand profit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5C4"/>
                </a:solidFill>
                <a:latin typeface="Aptos"/>
              </a:defRPr>
            </a:pPr>
            <a:r>
              <a:t>Top brands show materially different profit contribution.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DD65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Samsung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1554480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9DD653"/>
                </a:solidFill>
                <a:latin typeface="Aptos"/>
              </a:defRPr>
            </a:pPr>
            <a:r>
              <a:t>$4,317.20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93392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LG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1993392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$3,825.17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5059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432304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David Yurman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432304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$3,204.63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88950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871216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OnePlus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871216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$3,139.43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2841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310128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Whirlpool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3310128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$2,932.98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673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749040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HP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3749040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$2,913.27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2062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187952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Asus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4187952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$2,830.45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64515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626864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Pandora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4626864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$2,684.06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08406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065776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Dyson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5065776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$2,558.77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52297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5504688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Mikimoto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5504688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$2,257.99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05332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DD653"/>
                </a:solidFill>
                <a:latin typeface="Aptos"/>
              </a:defRPr>
            </a:pPr>
            <a:r>
              <a:t>Samsung profit is $492.03 above LG, a 12.9% lead over the #2 brand.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8520" y="64190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AB5C4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BEDA"/>
                </a:solidFill>
                <a:latin typeface="Aptos"/>
              </a:defRPr>
            </a:pPr>
            <a:r>
              <a:t>05 / PRODUCT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7F9FC"/>
                </a:solidFill>
                <a:latin typeface="Aptos"/>
              </a:defRPr>
            </a:pPr>
            <a:r>
              <a:t>A small set of products shows strong unit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5C4"/>
                </a:solidFill>
                <a:latin typeface="Aptos"/>
              </a:defRPr>
            </a:pPr>
            <a:r>
              <a:t>Highest observed profit per product in the notebook.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2B14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HP • Smartphone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1554480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2B143"/>
                </a:solidFill>
                <a:latin typeface="Aptos"/>
              </a:defRPr>
            </a:pPr>
            <a:r>
              <a:t>$624.22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93392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OnePlus • Gaming Console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1993392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$601.11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5059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432304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OnePlus • Smartphone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432304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$586.64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88950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871216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Messika • 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871216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$566.19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2841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310128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HP • Camera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3310128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$560.45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673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749040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Sony • Smartphone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3749040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$555.63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2062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187952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Tous • Product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4187952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$543.15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64515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626864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Apple • TV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4626864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$530.20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08406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065776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Mikimoto • Product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5065776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$525.23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52297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5504688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Cartier • Earrings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5504688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$515.93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05332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DD653"/>
                </a:solidFill>
                <a:latin typeface="Aptos"/>
              </a:defRPr>
            </a:pPr>
            <a:r>
              <a:t>The top product profit is $624.22, generated from a $1,380.75 selling price and $756.53 product cost.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8520" y="64190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AB5C4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BEDA"/>
                </a:solidFill>
                <a:latin typeface="Aptos"/>
              </a:defRPr>
            </a:pPr>
            <a:r>
              <a:t>06 / SUPPLIER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7F9FC"/>
                </a:solidFill>
                <a:latin typeface="Aptos"/>
              </a:defRPr>
            </a:pPr>
            <a:r>
              <a:t>Amazon Supply has the highest average profit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5C4"/>
                </a:solidFill>
                <a:latin typeface="Aptos"/>
              </a:defRPr>
            </a:pPr>
            <a:r>
              <a:t>Supplier ranking is based on average product profit — not revenue or margin percentage.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0BED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Amazon Supply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1554480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30BEDA"/>
                </a:solidFill>
                <a:latin typeface="Aptos"/>
              </a:defRPr>
            </a:pPr>
            <a:r>
              <a:t>$128.87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93392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Domestic Producers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1993392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$128.31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5059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432304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Euro Logistics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432304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$128.27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88950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871216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Direct Import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871216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$123.14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2841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310128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Pacific Trade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3310128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$119.55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673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749040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MultiSource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3749040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$117.35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2062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187952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North American Supply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4187952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$113.45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64515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626864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Asian Manufacturing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4626864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$111.54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08406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065776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Alibaba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5065776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$107.28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52297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5504688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Global Trade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5504688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$107.23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05332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DD653"/>
                </a:solidFill>
                <a:latin typeface="Aptos"/>
              </a:defRPr>
            </a:pPr>
            <a:r>
              <a:t>Top 3 suppliers are separated by only $0.60 in average profit, so supplier quality and reliability should also be considered.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8520" y="64190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AB5C4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BEDA"/>
                </a:solidFill>
                <a:latin typeface="Aptos"/>
              </a:defRPr>
            </a:pPr>
            <a:r>
              <a:t>07 / CUSTOMER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7F9FC"/>
                </a:solidFill>
                <a:latin typeface="Aptos"/>
              </a:defRPr>
            </a:pPr>
            <a:r>
              <a:t>Rating does not explain price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5C4"/>
                </a:solidFill>
                <a:latin typeface="Aptos"/>
              </a:defRPr>
            </a:pPr>
            <a:r>
              <a:t>The observed linear relationship is effectively zero.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2926080" cy="1417320"/>
          </a:xfrm>
          <a:prstGeom prst="roundRect">
            <a:avLst/>
          </a:prstGeom>
          <a:solidFill>
            <a:srgbClr val="182637"/>
          </a:solidFill>
          <a:ln>
            <a:solidFill>
              <a:srgbClr val="34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10512"/>
            <a:ext cx="25968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EE5853"/>
                </a:solidFill>
                <a:latin typeface="Aptos"/>
              </a:defRPr>
            </a:pPr>
            <a:r>
              <a:t>-0.0202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59152"/>
            <a:ext cx="2596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5C4"/>
                </a:solidFill>
                <a:latin typeface="Aptos"/>
              </a:defRPr>
            </a:pPr>
            <a:r>
              <a:t>Pearson correlation (rating × price)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7F9FC"/>
                </a:solidFill>
                <a:latin typeface="Aptos"/>
              </a:defRPr>
            </a:pPr>
            <a:r>
              <a:t>≈ 0 relationship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176272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B5C4"/>
                </a:solidFill>
                <a:latin typeface="Aptos"/>
              </a:defRPr>
            </a:pPr>
            <a:r>
              <a:t>A coefficient of -0.0202 is extremely close to zero.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46120"/>
            <a:ext cx="10241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7F9FC"/>
                </a:solidFill>
                <a:latin typeface="Aptos"/>
              </a:defRPr>
            </a:pPr>
            <a:r>
              <a:t>• Higher-rated products are not systematically more expensive in this catalog.</a:t>
            </a:r>
          </a:p>
          <a:p>
            <a:pPr>
              <a:spcAft>
                <a:spcPts val="900"/>
              </a:spcAft>
              <a:defRPr sz="1600">
                <a:solidFill>
                  <a:srgbClr val="F7F9FC"/>
                </a:solidFill>
                <a:latin typeface="Aptos"/>
              </a:defRPr>
            </a:pPr>
            <a:r>
              <a:t>• Rating alone should therefore not be used as a pricing proxy.</a:t>
            </a:r>
          </a:p>
          <a:p>
            <a:pPr>
              <a:spcAft>
                <a:spcPts val="900"/>
              </a:spcAft>
              <a:defRPr sz="1600">
                <a:solidFill>
                  <a:srgbClr val="F7F9FC"/>
                </a:solidFill>
                <a:latin typeface="Aptos"/>
              </a:defRPr>
            </a:pPr>
            <a:r>
              <a:t>• Price differentiation is more likely to require category, brand, cost and supplier-level analysis.</a:t>
            </a:r>
          </a:p>
          <a:p>
            <a:pPr>
              <a:spcAft>
                <a:spcPts val="900"/>
              </a:spcAft>
              <a:defRPr sz="1600">
                <a:solidFill>
                  <a:srgbClr val="F7F9FC"/>
                </a:solidFill>
                <a:latin typeface="Aptos"/>
              </a:defRPr>
            </a:pPr>
            <a:r>
              <a:t>• The negative sign is so small that it should be treated as practically negligible.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532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BEDA"/>
                </a:solidFill>
                <a:latin typeface="Aptos"/>
              </a:defRPr>
            </a:pPr>
            <a:r>
              <a:t>Business implication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54864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7F9FC"/>
                </a:solidFill>
                <a:latin typeface="Aptos"/>
              </a:defRPr>
            </a:pPr>
            <a:r>
              <a:t>Do not pay a premium simply because a product has a higher customer rating; test actual willingness-to-pay and competitive positioning.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190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AB5C4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BEDA"/>
                </a:solidFill>
                <a:latin typeface="Aptos"/>
              </a:defRPr>
            </a:pPr>
            <a:r>
              <a:t>08 / PREMIUM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7F9FC"/>
                </a:solidFill>
                <a:latin typeface="Aptos"/>
              </a:defRPr>
            </a:pPr>
            <a:r>
              <a:t>The premium end is concentrated in recognizable brands and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5C4"/>
                </a:solidFill>
                <a:latin typeface="Aptos"/>
              </a:defRPr>
            </a:pPr>
            <a:r>
              <a:t>Top 10 unit prices from the notebook.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E585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Asus • Tablet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1554480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EE5853"/>
                </a:solidFill>
                <a:latin typeface="Aptos"/>
              </a:defRPr>
            </a:pPr>
            <a:r>
              <a:t>$1,482.95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93392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LG • Smartphone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1993392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$1,433.55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5059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432304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HP • Smartphone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432304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$1,380.75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88950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871216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Xiaomi • Gaming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871216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$1,370.54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2841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310128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OnePlus • TV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3310128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$1,359.66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673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749040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Samsung • TV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3749040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$1,353.21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2062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187952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OnePlus • Gaming Console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4187952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$1,340.54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64515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626864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Asus • TV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4626864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$1,303.99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08406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065776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HP • Camera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5065776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$1,285.89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52297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B5C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5504688"/>
            <a:ext cx="68351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OnePlus • Smartphone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5504688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AB5C4"/>
                </a:solidFill>
                <a:latin typeface="Aptos"/>
              </a:defRPr>
            </a:pPr>
            <a:r>
              <a:t>$1,282.18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05332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DD653"/>
                </a:solidFill>
                <a:latin typeface="Aptos"/>
              </a:defRPr>
            </a:pPr>
            <a:r>
              <a:t>The top 10 price points all exceed $1,282 — more than 5.2× the catalog mean of $245.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8520" y="64190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AB5C4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BEDA"/>
                </a:solidFill>
                <a:latin typeface="Aptos"/>
              </a:defRPr>
            </a:pPr>
            <a:r>
              <a:t>09 / MANAGEMENT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7F9FC"/>
                </a:solidFill>
                <a:latin typeface="Aptos"/>
              </a:defRPr>
            </a:pPr>
            <a:r>
              <a:t>Turn the numbers into commercial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43584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5C4"/>
                </a:solidFill>
                <a:latin typeface="Aptos"/>
              </a:defRPr>
            </a:pPr>
            <a:r>
              <a:t>Prioritize actions that directly respond to the observed economics.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10607040" cy="1234440"/>
          </a:xfrm>
          <a:prstGeom prst="roundRect">
            <a:avLst/>
          </a:prstGeom>
          <a:solidFill>
            <a:srgbClr val="182637"/>
          </a:solidFill>
          <a:ln>
            <a:solidFill>
              <a:srgbClr val="34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73936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30BED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7373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F9FC"/>
                </a:solidFill>
                <a:latin typeface="Aptos"/>
              </a:defRPr>
            </a:pPr>
            <a:r>
              <a:t>SEGMENT PRICING BY 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737360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5C4"/>
                </a:solidFill>
                <a:latin typeface="Aptos"/>
              </a:defRPr>
            </a:pPr>
            <a:r>
              <a:t>Electronics averages $798.84 vs $158.63 for Health &amp; Wellness. Build category-specific price bands instead of a single catalog rule.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90088"/>
            <a:ext cx="10607040" cy="1234440"/>
          </a:xfrm>
          <a:prstGeom prst="roundRect">
            <a:avLst/>
          </a:prstGeom>
          <a:solidFill>
            <a:srgbClr val="182637"/>
          </a:solidFill>
          <a:ln>
            <a:solidFill>
              <a:srgbClr val="34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91256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9DD65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1546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F9FC"/>
                </a:solidFill>
                <a:latin typeface="Aptos"/>
              </a:defRPr>
            </a:pPr>
            <a:r>
              <a:t>PROTECT HIGH-PROFIT PRODUCTS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3154680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5C4"/>
                </a:solidFill>
                <a:latin typeface="Aptos"/>
              </a:defRPr>
            </a:pPr>
            <a:r>
              <a:t>The top product generates $624.22 profit per unit. Identify similar high-profit SKUs and protect their price/cost structure.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407408"/>
            <a:ext cx="10607040" cy="1234440"/>
          </a:xfrm>
          <a:prstGeom prst="roundRect">
            <a:avLst/>
          </a:prstGeom>
          <a:solidFill>
            <a:srgbClr val="182637"/>
          </a:solidFill>
          <a:ln>
            <a:solidFill>
              <a:srgbClr val="34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608576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2B14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5720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F9FC"/>
                </a:solidFill>
                <a:latin typeface="Aptos"/>
              </a:defRPr>
            </a:pPr>
            <a:r>
              <a:t>REVIEW SUPPLIER DIFFERENCES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4572000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5C4"/>
                </a:solidFill>
                <a:latin typeface="Aptos"/>
              </a:defRPr>
            </a:pPr>
            <a:r>
              <a:t>Amazon Supply averages $128.87 profit vs $107.23 for Global Trade — a $21.63 gap. Investigate whether quality, volume or cost explains it before reallocating spend.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190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AB5C4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BEDA"/>
                </a:solidFill>
                <a:latin typeface="Aptos"/>
              </a:defRPr>
            </a:pPr>
            <a:r>
              <a:t>10 / CORPORATE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7F9FC"/>
                </a:solidFill>
                <a:latin typeface="Aptos"/>
              </a:defRPr>
            </a:pPr>
            <a:r>
              <a:t>The five numbers management should remember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2057400" cy="1234440"/>
          </a:xfrm>
          <a:prstGeom prst="roundRect">
            <a:avLst/>
          </a:prstGeom>
          <a:solidFill>
            <a:srgbClr val="182637"/>
          </a:solidFill>
          <a:ln>
            <a:solidFill>
              <a:srgbClr val="34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64792"/>
            <a:ext cx="17282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BEDA"/>
                </a:solidFill>
                <a:latin typeface="Aptos"/>
              </a:defRPr>
            </a:pPr>
            <a:r>
              <a:t>$245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13432"/>
            <a:ext cx="17282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5C4"/>
                </a:solidFill>
                <a:latin typeface="Aptos"/>
              </a:defRPr>
            </a:pPr>
            <a:r>
              <a:t>Mean price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600200"/>
            <a:ext cx="2057400" cy="1234440"/>
          </a:xfrm>
          <a:prstGeom prst="roundRect">
            <a:avLst/>
          </a:prstGeom>
          <a:solidFill>
            <a:srgbClr val="182637"/>
          </a:solidFill>
          <a:ln>
            <a:solidFill>
              <a:srgbClr val="34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36392" y="1764792"/>
            <a:ext cx="17282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2B143"/>
                </a:solidFill>
                <a:latin typeface="Aptos"/>
              </a:defRPr>
            </a:pPr>
            <a:r>
              <a:t>$1,482.95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2" y="2313432"/>
            <a:ext cx="17282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5C4"/>
                </a:solidFill>
                <a:latin typeface="Aptos"/>
              </a:defRPr>
            </a:pPr>
            <a:r>
              <a:t>Max price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1600200"/>
            <a:ext cx="2057400" cy="1234440"/>
          </a:xfrm>
          <a:prstGeom prst="roundRect">
            <a:avLst/>
          </a:prstGeom>
          <a:solidFill>
            <a:srgbClr val="182637"/>
          </a:solidFill>
          <a:ln>
            <a:solidFill>
              <a:srgbClr val="34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76672" y="1764792"/>
            <a:ext cx="17282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9DD653"/>
                </a:solidFill>
                <a:latin typeface="Aptos"/>
              </a:defRPr>
            </a:pPr>
            <a:r>
              <a:t>$4,317.20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6672" y="2313432"/>
            <a:ext cx="17282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5C4"/>
                </a:solidFill>
                <a:latin typeface="Aptos"/>
              </a:defRPr>
            </a:pPr>
            <a:r>
              <a:t>Top brand profit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1600200"/>
            <a:ext cx="2057400" cy="1234440"/>
          </a:xfrm>
          <a:prstGeom prst="roundRect">
            <a:avLst/>
          </a:prstGeom>
          <a:solidFill>
            <a:srgbClr val="182637"/>
          </a:solidFill>
          <a:ln>
            <a:solidFill>
              <a:srgbClr val="34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16952" y="1764792"/>
            <a:ext cx="17282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30BEDA"/>
                </a:solidFill>
                <a:latin typeface="Aptos"/>
              </a:defRPr>
            </a:pPr>
            <a:r>
              <a:t>$128.87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6952" y="2313432"/>
            <a:ext cx="17282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5C4"/>
                </a:solidFill>
                <a:latin typeface="Aptos"/>
              </a:defRPr>
            </a:pPr>
            <a:r>
              <a:t>Top supplier avg profit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600200"/>
            <a:ext cx="1828800" cy="1234440"/>
          </a:xfrm>
          <a:prstGeom prst="roundRect">
            <a:avLst/>
          </a:prstGeom>
          <a:solidFill>
            <a:srgbClr val="182637"/>
          </a:solidFill>
          <a:ln>
            <a:solidFill>
              <a:srgbClr val="34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57232" y="1764792"/>
            <a:ext cx="14996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EE5853"/>
                </a:solidFill>
                <a:latin typeface="Aptos"/>
              </a:defRPr>
            </a:pPr>
            <a:r>
              <a:t>-0.0202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7232" y="2313432"/>
            <a:ext cx="14996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5C4"/>
                </a:solidFill>
                <a:latin typeface="Aptos"/>
              </a:defRPr>
            </a:pPr>
            <a:r>
              <a:t>Price × rating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383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BEDA"/>
                </a:solidFill>
                <a:latin typeface="Aptos"/>
              </a:defRPr>
            </a:pPr>
            <a:r>
              <a:t>Bottom 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94760"/>
            <a:ext cx="10241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7F9FC"/>
                </a:solidFill>
                <a:latin typeface="Aptos"/>
              </a:defRPr>
            </a:pPr>
            <a:r>
              <a:t>The catalog is economically heterogeneous: pricing varies widely by category, brands differ in profit contribution, supplier averages differ, and customer rating provides almost no linear explanation for price.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2578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DD653"/>
                </a:solidFill>
                <a:latin typeface="Aptos"/>
              </a:defRPr>
            </a:pPr>
            <a:r>
              <a:t>Decision focus → category-specific pricing + high-profit SKU protection + supplier economics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4190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AB5C4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BEDA"/>
                </a:solidFill>
                <a:latin typeface="Aptos"/>
              </a:defRPr>
            </a:pPr>
            <a:r>
              <a:t>EXECUTIVE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F7F9FC"/>
                </a:solidFill>
                <a:latin typeface="Aptos"/>
              </a:defRPr>
            </a:pPr>
            <a:r>
              <a:t>PRICE IS NOT ONE-SIZE-FITS-ALL.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3317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B5C4"/>
                </a:solidFill>
                <a:latin typeface="Aptos"/>
              </a:defRPr>
            </a:pPr>
            <a:r>
              <a:t>The data points to a segmented commercial strategy: manage categories differently, protect products with strong unit profit, and use supplier economics to guide sourcing reviews.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69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0BEDA"/>
                </a:solidFill>
                <a:latin typeface="Aptos"/>
              </a:defRPr>
            </a:pPr>
            <a:r>
              <a:t>$245 mean 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40690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DD653"/>
                </a:solidFill>
                <a:latin typeface="Aptos"/>
              </a:defRPr>
            </a:pPr>
            <a:r>
              <a:t>$798.84 Electronics average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40690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2B143"/>
                </a:solidFill>
                <a:latin typeface="Aptos"/>
              </a:defRPr>
            </a:pPr>
            <a:r>
              <a:t>$4,317.20 Samsung profit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006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E5853"/>
                </a:solidFill>
                <a:latin typeface="Aptos"/>
              </a:defRPr>
            </a:pPr>
            <a:r>
              <a:t>r = -0.0202 rating × 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8006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0BEDA"/>
                </a:solidFill>
                <a:latin typeface="Aptos"/>
              </a:defRPr>
            </a:pPr>
            <a:r>
              <a:t>$128.87 Amazon Supply avg 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06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F9FC"/>
                </a:solidFill>
                <a:latin typeface="Aptos"/>
              </a:defRPr>
            </a:pPr>
            <a:r>
              <a:t>PRODUCT CATALOG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190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AB5C4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